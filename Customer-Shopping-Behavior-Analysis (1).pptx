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strument Sans Medium"/>
      <p:regular r:id="rId12"/>
    </p:embeddedFont>
    <p:embeddedFont>
      <p:font typeface="Instrument Sans Medium"/>
      <p:regular r:id="rId13"/>
    </p:embeddedFont>
    <p:embeddedFont>
      <p:font typeface="Instrument Sans Medium"/>
      <p:regular r:id="rId14"/>
    </p:embeddedFont>
    <p:embeddedFont>
      <p:font typeface="Instrument Sans Medium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slideLayout" Target="../slideLayouts/slideLayout6.xml"/><Relationship Id="rId1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203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purchases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384"/>
            <a:ext cx="5472946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Overview &amp; Preparation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61365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Snapshot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09894"/>
            <a:ext cx="2640925" cy="5123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688074"/>
            <a:ext cx="4063127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3,900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93790" y="3471267"/>
            <a:ext cx="40631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Purchases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3790" y="3854410"/>
            <a:ext cx="4063127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3790" y="4637603"/>
            <a:ext cx="40631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Data Columns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3790" y="5020747"/>
            <a:ext cx="4063127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37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93790" y="5803940"/>
            <a:ext cx="40631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(Review Rating Only)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24105" y="1613654"/>
            <a:ext cx="3478411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Preparation Process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5224105" y="2148126"/>
            <a:ext cx="589717" cy="908328"/>
          </a:xfrm>
          <a:prstGeom prst="roundRect">
            <a:avLst>
              <a:gd name="adj" fmla="val 360022"/>
            </a:avLst>
          </a:prstGeom>
          <a:solidFill>
            <a:srgbClr val="434348"/>
          </a:solidFill>
          <a:ln/>
        </p:spPr>
      </p:sp>
      <p:sp>
        <p:nvSpPr>
          <p:cNvPr id="13" name="Text 10"/>
          <p:cNvSpPr/>
          <p:nvPr/>
        </p:nvSpPr>
        <p:spPr>
          <a:xfrm>
            <a:off x="5408414" y="2464118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61221" y="229552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Loading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961221" y="2673310"/>
            <a:ext cx="78828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using pandas.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24105" y="3203853"/>
            <a:ext cx="589717" cy="908328"/>
          </a:xfrm>
          <a:prstGeom prst="roundRect">
            <a:avLst>
              <a:gd name="adj" fmla="val 360022"/>
            </a:avLst>
          </a:prstGeom>
          <a:solidFill>
            <a:srgbClr val="434348"/>
          </a:solidFill>
          <a:ln/>
        </p:spPr>
      </p:sp>
      <p:sp>
        <p:nvSpPr>
          <p:cNvPr id="17" name="Text 14"/>
          <p:cNvSpPr/>
          <p:nvPr/>
        </p:nvSpPr>
        <p:spPr>
          <a:xfrm>
            <a:off x="5408414" y="3519845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961221" y="335125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Exploration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961221" y="3729038"/>
            <a:ext cx="78828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check and summary statistics.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224105" y="4259580"/>
            <a:ext cx="589717" cy="908328"/>
          </a:xfrm>
          <a:prstGeom prst="roundRect">
            <a:avLst>
              <a:gd name="adj" fmla="val 360022"/>
            </a:avLst>
          </a:prstGeom>
          <a:solidFill>
            <a:srgbClr val="434348"/>
          </a:solidFill>
          <a:ln/>
        </p:spPr>
      </p:sp>
      <p:sp>
        <p:nvSpPr>
          <p:cNvPr id="21" name="Text 18"/>
          <p:cNvSpPr/>
          <p:nvPr/>
        </p:nvSpPr>
        <p:spPr>
          <a:xfrm>
            <a:off x="5408414" y="4575572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961221" y="4406979"/>
            <a:ext cx="191785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Missing Data Handling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961221" y="4784765"/>
            <a:ext cx="78828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Review Rating with median values.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224105" y="5315307"/>
            <a:ext cx="589717" cy="908328"/>
          </a:xfrm>
          <a:prstGeom prst="roundRect">
            <a:avLst>
              <a:gd name="adj" fmla="val 360022"/>
            </a:avLst>
          </a:prstGeom>
          <a:solidFill>
            <a:srgbClr val="434348"/>
          </a:solidFill>
          <a:ln/>
        </p:spPr>
      </p:sp>
      <p:sp>
        <p:nvSpPr>
          <p:cNvPr id="25" name="Text 22"/>
          <p:cNvSpPr/>
          <p:nvPr/>
        </p:nvSpPr>
        <p:spPr>
          <a:xfrm>
            <a:off x="5408414" y="5631299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961221" y="546270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5961221" y="5840492"/>
            <a:ext cx="78828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groups and purchase frequency metrics.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224105" y="6371034"/>
            <a:ext cx="589717" cy="908328"/>
          </a:xfrm>
          <a:prstGeom prst="roundRect">
            <a:avLst>
              <a:gd name="adj" fmla="val 360022"/>
            </a:avLst>
          </a:prstGeom>
          <a:solidFill>
            <a:srgbClr val="434348"/>
          </a:solidFill>
          <a:ln/>
        </p:spPr>
      </p:sp>
      <p:sp>
        <p:nvSpPr>
          <p:cNvPr id="29" name="Text 26"/>
          <p:cNvSpPr/>
          <p:nvPr/>
        </p:nvSpPr>
        <p:spPr>
          <a:xfrm>
            <a:off x="5408414" y="6687026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961221" y="651843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Integration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5961221" y="6896219"/>
            <a:ext cx="78828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PostgreSQL for advanced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950" y="432078"/>
            <a:ext cx="4516755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Insights: Gender &amp; Discounts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9950" y="1006435"/>
            <a:ext cx="200763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by Gender Analysis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950" y="1312783"/>
            <a:ext cx="3715345" cy="19544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9950" y="3382089"/>
            <a:ext cx="6640711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 customers generate </a:t>
            </a:r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F203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slightly higher total revenue</a:t>
            </a:r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male customers.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9950" y="3637359"/>
            <a:ext cx="6640711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Gender-based marketing strategies could optimize revenue streams.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9950" y="3892629"/>
            <a:ext cx="6640711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vs. Female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50" y="4170878"/>
            <a:ext cx="4316373" cy="431637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50" y="8602147"/>
            <a:ext cx="140375" cy="1137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7359" y="1006435"/>
            <a:ext cx="189714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High-Value Discount Users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359" y="1312783"/>
            <a:ext cx="2681168" cy="402169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47359" y="5449372"/>
            <a:ext cx="1276707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Shoppers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7447359" y="5710952"/>
            <a:ext cx="6640711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F203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spenders</a:t>
            </a:r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who maximize value with discounts.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7447359" y="5976342"/>
            <a:ext cx="1304330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Opportunity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447359" y="6237923"/>
            <a:ext cx="6640711" cy="163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premium customers with exclusive, personalized offers.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208" y="410289"/>
            <a:ext cx="6280785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Recommendations &amp; Customer Segmentation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2208" y="955596"/>
            <a:ext cx="193964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Impact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194" y="1307068"/>
            <a:ext cx="3470791" cy="347079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7624" y="2974181"/>
            <a:ext cx="136327" cy="1363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22208" y="4923234"/>
            <a:ext cx="193953" cy="193953"/>
          </a:xfrm>
          <a:prstGeom prst="roundRect">
            <a:avLst>
              <a:gd name="adj" fmla="val 7500"/>
            </a:avLst>
          </a:prstGeom>
          <a:solidFill>
            <a:srgbClr val="434348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522" y="4959548"/>
            <a:ext cx="121206" cy="1212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3078" y="4944428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Spend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813078" y="5192792"/>
            <a:ext cx="638389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vs. Non-Subscribers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194" y="1307068"/>
            <a:ext cx="3470791" cy="347079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38149" y="2200156"/>
            <a:ext cx="136327" cy="136327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522208" y="5493425"/>
            <a:ext cx="193953" cy="193953"/>
          </a:xfrm>
          <a:prstGeom prst="roundRect">
            <a:avLst>
              <a:gd name="adj" fmla="val 7500"/>
            </a:avLst>
          </a:prstGeom>
          <a:solidFill>
            <a:srgbClr val="434348"/>
          </a:solidFill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8522" y="5529739"/>
            <a:ext cx="121206" cy="12120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3078" y="5514618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 Share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813078" y="5762982"/>
            <a:ext cx="638389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portion from subscriptions</a:t>
            </a:r>
            <a:endParaRPr lang="en-US" sz="7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4194" y="1307068"/>
            <a:ext cx="3470791" cy="3470791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38149" y="3748207"/>
            <a:ext cx="136327" cy="136327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522208" y="6063615"/>
            <a:ext cx="193953" cy="193953"/>
          </a:xfrm>
          <a:prstGeom prst="roundRect">
            <a:avLst>
              <a:gd name="adj" fmla="val 7500"/>
            </a:avLst>
          </a:prstGeom>
          <a:solidFill>
            <a:srgbClr val="434348"/>
          </a:solidFill>
          <a:ln/>
        </p:spPr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8522" y="6099929"/>
            <a:ext cx="121206" cy="121206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13078" y="6084808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Loyalty Rate</a:t>
            </a:r>
            <a:endParaRPr lang="en-US" sz="950" dirty="0"/>
          </a:p>
        </p:txBody>
      </p:sp>
      <p:sp>
        <p:nvSpPr>
          <p:cNvPr id="21" name="Text 10"/>
          <p:cNvSpPr/>
          <p:nvPr/>
        </p:nvSpPr>
        <p:spPr>
          <a:xfrm>
            <a:off x="813078" y="6333173"/>
            <a:ext cx="638389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repeat purchase frequency</a:t>
            </a:r>
            <a:endParaRPr lang="en-US" sz="750" dirty="0"/>
          </a:p>
        </p:txBody>
      </p:sp>
      <p:sp>
        <p:nvSpPr>
          <p:cNvPr id="22" name="Text 11"/>
          <p:cNvSpPr/>
          <p:nvPr/>
        </p:nvSpPr>
        <p:spPr>
          <a:xfrm>
            <a:off x="7441049" y="955596"/>
            <a:ext cx="2227540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23" name="Shape 12"/>
          <p:cNvSpPr/>
          <p:nvPr/>
        </p:nvSpPr>
        <p:spPr>
          <a:xfrm>
            <a:off x="7441049" y="1307068"/>
            <a:ext cx="6674763" cy="627936"/>
          </a:xfrm>
          <a:prstGeom prst="roundRect">
            <a:avLst>
              <a:gd name="adj" fmla="val 2317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</p:sp>
      <p:sp>
        <p:nvSpPr>
          <p:cNvPr id="24" name="Shape 13"/>
          <p:cNvSpPr/>
          <p:nvPr/>
        </p:nvSpPr>
        <p:spPr>
          <a:xfrm>
            <a:off x="7456289" y="1322308"/>
            <a:ext cx="387906" cy="597456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25" name="Text 14"/>
          <p:cNvSpPr/>
          <p:nvPr/>
        </p:nvSpPr>
        <p:spPr>
          <a:xfrm>
            <a:off x="7577495" y="1530072"/>
            <a:ext cx="145375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15"/>
          <p:cNvSpPr/>
          <p:nvPr/>
        </p:nvSpPr>
        <p:spPr>
          <a:xfrm>
            <a:off x="7941112" y="1419225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</a:t>
            </a:r>
            <a:endParaRPr lang="en-US" sz="950" dirty="0"/>
          </a:p>
        </p:txBody>
      </p:sp>
      <p:sp>
        <p:nvSpPr>
          <p:cNvPr id="27" name="Text 16"/>
          <p:cNvSpPr/>
          <p:nvPr/>
        </p:nvSpPr>
        <p:spPr>
          <a:xfrm>
            <a:off x="7941112" y="1667589"/>
            <a:ext cx="606254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F203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High value, frequent customers.</a:t>
            </a:r>
            <a:endParaRPr lang="en-US" sz="750" dirty="0"/>
          </a:p>
        </p:txBody>
      </p:sp>
      <p:sp>
        <p:nvSpPr>
          <p:cNvPr id="28" name="Shape 17"/>
          <p:cNvSpPr/>
          <p:nvPr/>
        </p:nvSpPr>
        <p:spPr>
          <a:xfrm>
            <a:off x="7441049" y="2031921"/>
            <a:ext cx="6674763" cy="627936"/>
          </a:xfrm>
          <a:prstGeom prst="roundRect">
            <a:avLst>
              <a:gd name="adj" fmla="val 2317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7456289" y="2047161"/>
            <a:ext cx="387906" cy="597456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30" name="Text 19"/>
          <p:cNvSpPr/>
          <p:nvPr/>
        </p:nvSpPr>
        <p:spPr>
          <a:xfrm>
            <a:off x="7577495" y="2254925"/>
            <a:ext cx="145375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7941112" y="2144078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Returning</a:t>
            </a:r>
            <a:endParaRPr lang="en-US" sz="950" dirty="0"/>
          </a:p>
        </p:txBody>
      </p:sp>
      <p:sp>
        <p:nvSpPr>
          <p:cNvPr id="32" name="Text 21"/>
          <p:cNvSpPr/>
          <p:nvPr/>
        </p:nvSpPr>
        <p:spPr>
          <a:xfrm>
            <a:off x="7941112" y="2392442"/>
            <a:ext cx="606254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F203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Regular shoppers, potential for loyalty.</a:t>
            </a:r>
            <a:endParaRPr lang="en-US" sz="750" dirty="0"/>
          </a:p>
        </p:txBody>
      </p:sp>
      <p:sp>
        <p:nvSpPr>
          <p:cNvPr id="33" name="Shape 22"/>
          <p:cNvSpPr/>
          <p:nvPr/>
        </p:nvSpPr>
        <p:spPr>
          <a:xfrm>
            <a:off x="7441049" y="2756773"/>
            <a:ext cx="6674763" cy="627936"/>
          </a:xfrm>
          <a:prstGeom prst="roundRect">
            <a:avLst>
              <a:gd name="adj" fmla="val 2317"/>
            </a:avLst>
          </a:prstGeom>
          <a:solidFill>
            <a:srgbClr val="242429"/>
          </a:solidFill>
          <a:ln w="15240">
            <a:solidFill>
              <a:srgbClr val="5C5C61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7456289" y="2772013"/>
            <a:ext cx="387906" cy="597456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35" name="Text 24"/>
          <p:cNvSpPr/>
          <p:nvPr/>
        </p:nvSpPr>
        <p:spPr>
          <a:xfrm>
            <a:off x="7577495" y="2979777"/>
            <a:ext cx="145375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7941112" y="2868930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</a:t>
            </a:r>
            <a:endParaRPr lang="en-US" sz="950" dirty="0"/>
          </a:p>
        </p:txBody>
      </p:sp>
      <p:sp>
        <p:nvSpPr>
          <p:cNvPr id="37" name="Text 26"/>
          <p:cNvSpPr/>
          <p:nvPr/>
        </p:nvSpPr>
        <p:spPr>
          <a:xfrm>
            <a:off x="7941112" y="3117294"/>
            <a:ext cx="606254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F203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First-time buyers, focus on conversion.</a:t>
            </a:r>
            <a:endParaRPr lang="en-US" sz="750" dirty="0"/>
          </a:p>
        </p:txBody>
      </p:sp>
      <p:sp>
        <p:nvSpPr>
          <p:cNvPr id="38" name="Text 27"/>
          <p:cNvSpPr/>
          <p:nvPr/>
        </p:nvSpPr>
        <p:spPr>
          <a:xfrm>
            <a:off x="7441049" y="3493770"/>
            <a:ext cx="6674763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Strategy: Convert New to Returning, Returning to Loyal.</a:t>
            </a:r>
            <a:endParaRPr lang="en-US" sz="750" dirty="0"/>
          </a:p>
        </p:txBody>
      </p:sp>
      <p:sp>
        <p:nvSpPr>
          <p:cNvPr id="39" name="Shape 28"/>
          <p:cNvSpPr/>
          <p:nvPr/>
        </p:nvSpPr>
        <p:spPr>
          <a:xfrm>
            <a:off x="522208" y="6754968"/>
            <a:ext cx="13585984" cy="19645"/>
          </a:xfrm>
          <a:prstGeom prst="rect">
            <a:avLst/>
          </a:prstGeom>
          <a:solidFill>
            <a:srgbClr val="C7CDD6">
              <a:alpha val="50000"/>
            </a:srgbClr>
          </a:solidFill>
          <a:ln/>
        </p:spPr>
      </p:sp>
      <p:sp>
        <p:nvSpPr>
          <p:cNvPr id="40" name="Text 29"/>
          <p:cNvSpPr/>
          <p:nvPr/>
        </p:nvSpPr>
        <p:spPr>
          <a:xfrm>
            <a:off x="522208" y="6919913"/>
            <a:ext cx="2573179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41" name="Shape 30"/>
          <p:cNvSpPr/>
          <p:nvPr/>
        </p:nvSpPr>
        <p:spPr>
          <a:xfrm>
            <a:off x="522208" y="7307699"/>
            <a:ext cx="6744533" cy="558641"/>
          </a:xfrm>
          <a:prstGeom prst="roundRect">
            <a:avLst>
              <a:gd name="adj" fmla="val 2604"/>
            </a:avLst>
          </a:prstGeom>
          <a:solidFill>
            <a:srgbClr val="434348"/>
          </a:solidFill>
          <a:ln/>
        </p:spPr>
      </p:sp>
      <p:sp>
        <p:nvSpPr>
          <p:cNvPr id="42" name="Text 31"/>
          <p:cNvSpPr/>
          <p:nvPr/>
        </p:nvSpPr>
        <p:spPr>
          <a:xfrm>
            <a:off x="619125" y="7404616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Boost Subscriptions</a:t>
            </a:r>
            <a:endParaRPr lang="en-US" sz="950" dirty="0"/>
          </a:p>
        </p:txBody>
      </p:sp>
      <p:sp>
        <p:nvSpPr>
          <p:cNvPr id="43" name="Text 32"/>
          <p:cNvSpPr/>
          <p:nvPr/>
        </p:nvSpPr>
        <p:spPr>
          <a:xfrm>
            <a:off x="619125" y="7614166"/>
            <a:ext cx="6550700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for subscribers to increase retention.</a:t>
            </a:r>
            <a:endParaRPr lang="en-US" sz="750" dirty="0"/>
          </a:p>
        </p:txBody>
      </p:sp>
      <p:sp>
        <p:nvSpPr>
          <p:cNvPr id="44" name="Shape 33"/>
          <p:cNvSpPr/>
          <p:nvPr/>
        </p:nvSpPr>
        <p:spPr>
          <a:xfrm>
            <a:off x="7363658" y="7307699"/>
            <a:ext cx="6744533" cy="558641"/>
          </a:xfrm>
          <a:prstGeom prst="roundRect">
            <a:avLst>
              <a:gd name="adj" fmla="val 2604"/>
            </a:avLst>
          </a:prstGeom>
          <a:solidFill>
            <a:srgbClr val="434348"/>
          </a:solidFill>
          <a:ln/>
        </p:spPr>
      </p:sp>
      <p:sp>
        <p:nvSpPr>
          <p:cNvPr id="45" name="Text 34"/>
          <p:cNvSpPr/>
          <p:nvPr/>
        </p:nvSpPr>
        <p:spPr>
          <a:xfrm>
            <a:off x="7460575" y="7404616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Loyalty Programs</a:t>
            </a:r>
            <a:endParaRPr lang="en-US" sz="950" dirty="0"/>
          </a:p>
        </p:txBody>
      </p:sp>
      <p:sp>
        <p:nvSpPr>
          <p:cNvPr id="46" name="Text 35"/>
          <p:cNvSpPr/>
          <p:nvPr/>
        </p:nvSpPr>
        <p:spPr>
          <a:xfrm>
            <a:off x="7460575" y="7614166"/>
            <a:ext cx="6550700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enhance customer lifetime value.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522208" y="7963257"/>
            <a:ext cx="6744533" cy="558641"/>
          </a:xfrm>
          <a:prstGeom prst="roundRect">
            <a:avLst>
              <a:gd name="adj" fmla="val 2604"/>
            </a:avLst>
          </a:prstGeom>
          <a:solidFill>
            <a:srgbClr val="434348"/>
          </a:solidFill>
          <a:ln/>
        </p:spPr>
      </p:sp>
      <p:sp>
        <p:nvSpPr>
          <p:cNvPr id="48" name="Text 37"/>
          <p:cNvSpPr/>
          <p:nvPr/>
        </p:nvSpPr>
        <p:spPr>
          <a:xfrm>
            <a:off x="619125" y="8060174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Targeted Marketing</a:t>
            </a:r>
            <a:endParaRPr lang="en-US" sz="950" dirty="0"/>
          </a:p>
        </p:txBody>
      </p:sp>
      <p:sp>
        <p:nvSpPr>
          <p:cNvPr id="49" name="Text 38"/>
          <p:cNvSpPr/>
          <p:nvPr/>
        </p:nvSpPr>
        <p:spPr>
          <a:xfrm>
            <a:off x="619125" y="8269724"/>
            <a:ext cx="6550700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campaigns on high-revenue segments and express shipping users.</a:t>
            </a:r>
            <a:endParaRPr lang="en-US" sz="750" dirty="0"/>
          </a:p>
        </p:txBody>
      </p:sp>
      <p:sp>
        <p:nvSpPr>
          <p:cNvPr id="50" name="Shape 39"/>
          <p:cNvSpPr/>
          <p:nvPr/>
        </p:nvSpPr>
        <p:spPr>
          <a:xfrm>
            <a:off x="7363658" y="7963257"/>
            <a:ext cx="6744533" cy="558641"/>
          </a:xfrm>
          <a:prstGeom prst="roundRect">
            <a:avLst>
              <a:gd name="adj" fmla="val 2604"/>
            </a:avLst>
          </a:prstGeom>
          <a:solidFill>
            <a:srgbClr val="434348"/>
          </a:solidFill>
          <a:ln/>
        </p:spPr>
      </p:sp>
      <p:sp>
        <p:nvSpPr>
          <p:cNvPr id="51" name="Text 40"/>
          <p:cNvSpPr/>
          <p:nvPr/>
        </p:nvSpPr>
        <p:spPr>
          <a:xfrm>
            <a:off x="7460575" y="8060174"/>
            <a:ext cx="1212175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Positioning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7460575" y="8269724"/>
            <a:ext cx="6550700" cy="155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products in all marketing and sales efforts.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2025-11-23T14:21:20Z</dcterms:created>
  <dcterms:modified xsi:type="dcterms:W3CDTF">2025-11-23T14:21:20Z</dcterms:modified>
</cp:coreProperties>
</file>